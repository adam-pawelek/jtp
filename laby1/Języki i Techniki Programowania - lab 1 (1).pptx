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8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2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7DD681A-43B5-4AA1-ACC6-9A5C4C35E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0025AD0-7340-4033-9ADD-B83143021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EDA74B-A5C5-42BD-A0AD-B006B0329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ECC6C-ADCC-44EA-A95F-DBB3E474E479}" type="datetimeFigureOut">
              <a:rPr lang="pl-PL" smtClean="0"/>
              <a:t>24.03.2020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0EE11E2-2B13-4787-9C5B-C5187A932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576F652-2CC7-42E6-A1EF-8CC92F625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A16C-94ED-469E-BE83-08E99915CA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53472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A439A65-E90A-4E2F-814D-84688EF7D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D771528-CFE1-4957-AF77-9E95263F8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2AE2C88-E587-42B9-B95D-1C85490DC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ECC6C-ADCC-44EA-A95F-DBB3E474E479}" type="datetimeFigureOut">
              <a:rPr lang="pl-PL" smtClean="0"/>
              <a:t>24.03.2020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468C7B2-8F27-4B40-AAC8-E9BCEB86E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A8A87DD-DFFD-429E-8A5B-9A27B046F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A16C-94ED-469E-BE83-08E99915CA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63174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70E1F68-50BB-4331-84F7-6026DAA5D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C490F6C-788E-4FD0-95C7-09B43FB72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42EEEB2-6618-41B2-9BCF-58B2715DA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ECC6C-ADCC-44EA-A95F-DBB3E474E479}" type="datetimeFigureOut">
              <a:rPr lang="pl-PL" smtClean="0"/>
              <a:t>24.03.2020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F6F4427-8BB8-42D1-B49E-D41B9A79D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BAC33AA-D04B-4E24-BC66-421B3CF7F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A16C-94ED-469E-BE83-08E99915CA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21417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31FB0CA-643A-45EE-84AE-D1EA3BCCA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47974C3-B53D-4A87-8D69-01F529B7D9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9F51A07-C532-459E-8CE5-F602D73EE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29CEBDC-7624-4627-9534-281E6FD02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ECC6C-ADCC-44EA-A95F-DBB3E474E479}" type="datetimeFigureOut">
              <a:rPr lang="pl-PL" smtClean="0"/>
              <a:t>24.03.2020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7053FE8-B158-4A3C-97F4-04E059C98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76A6FC2-201E-4AAF-A521-35C20FEE7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A16C-94ED-469E-BE83-08E99915CA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77838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A4FDE00-2EB1-42D5-AB11-7A3977FA6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CC829A7-CB29-4A95-9E6C-C78EDE39E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F4DF5DE-A4B1-4FC2-98A5-D23643816B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00F9A34B-5E35-4636-A3F1-F93A230E75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50AF133E-03BC-42EA-89B7-388ABEC77B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66BD1A32-6C46-48FE-86B7-6BF6697C3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ECC6C-ADCC-44EA-A95F-DBB3E474E479}" type="datetimeFigureOut">
              <a:rPr lang="pl-PL" smtClean="0"/>
              <a:t>24.03.2020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7417082-BC88-4E5C-B157-4E15B8999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5D813353-4F5D-44A9-8293-24806890C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A16C-94ED-469E-BE83-08E99915CA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86492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AB41D77-DA27-4B39-A81A-186EB86A1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6441318C-37DD-4EF2-8496-F9ECFABE4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ECC6C-ADCC-44EA-A95F-DBB3E474E479}" type="datetimeFigureOut">
              <a:rPr lang="pl-PL" smtClean="0"/>
              <a:t>24.03.2020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919C281B-F16A-4704-9824-5BAE1E684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C030D8B-629A-4E27-9473-32E7F9F7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A16C-94ED-469E-BE83-08E99915CA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07684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820F8C8E-654A-46A4-ACAC-4316730BF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ECC6C-ADCC-44EA-A95F-DBB3E474E479}" type="datetimeFigureOut">
              <a:rPr lang="pl-PL" smtClean="0"/>
              <a:t>24.03.2020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9E83B704-31F7-4995-A965-F8AE9DF8C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421D5F6-CD97-41FB-B0DC-659936F92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A16C-94ED-469E-BE83-08E99915CA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0666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F4E10A1-501A-4A29-B945-1F42379E8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1063FCB-9754-4278-8F58-8A2AFE5FA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5CC48E4-23E3-4627-A14A-D29DB4808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8447A95-92FF-40C3-A2D7-5CDDB1865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ECC6C-ADCC-44EA-A95F-DBB3E474E479}" type="datetimeFigureOut">
              <a:rPr lang="pl-PL" smtClean="0"/>
              <a:t>24.03.2020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52932B4-D7D9-4DCC-9FE6-3D8B10ECB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BD824B2-D96E-47A0-960E-160A2B86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A16C-94ED-469E-BE83-08E99915CA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92617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9B0AD40-E83B-402F-9B60-BD01DCE69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957D806-0577-4EF6-9E64-66A103FCE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CF704F9-FAEF-470A-86DB-5E8FB06240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5ABC75E-C07E-4CD2-8B6C-47FF3EC09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ECC6C-ADCC-44EA-A95F-DBB3E474E479}" type="datetimeFigureOut">
              <a:rPr lang="pl-PL" smtClean="0"/>
              <a:t>24.03.2020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91B2A6D-CAD5-4958-BCEE-757CEE25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A8B6A4A-6C44-4E20-86AE-484A807D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A16C-94ED-469E-BE83-08E99915CA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17834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0D07C1E-6DA2-4E11-9649-441F781D9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F085599F-4E75-4BF3-A9D0-32DCCAD9C9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2A9A054-DC81-4E8D-A090-E2423D538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ECC6C-ADCC-44EA-A95F-DBB3E474E479}" type="datetimeFigureOut">
              <a:rPr lang="pl-PL" smtClean="0"/>
              <a:t>24.03.2020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01938C7-0501-4D3A-895C-B5D08067B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870A02C-70F2-4AD0-8B36-5EE3EC5B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A16C-94ED-469E-BE83-08E99915CA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42616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D1BED978-B517-4FFB-A4C0-D11A586A32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7C5690B5-E8CD-4855-8084-98B269896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7F94998-9521-46EC-A753-AF230DDCC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ECC6C-ADCC-44EA-A95F-DBB3E474E479}" type="datetimeFigureOut">
              <a:rPr lang="pl-PL" smtClean="0"/>
              <a:t>24.03.2020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6600F35-FD2B-4394-B2FC-1F9B5ADD5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D9470DE-08A5-4CE8-887F-94AB848CD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A16C-94ED-469E-BE83-08E99915CA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77381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C1D2401-FEFD-41E3-95C4-961D12B0E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5C91544-B66A-47BA-B75F-345B1055F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8B72462-64EC-4F06-84DD-D4CE7ADE81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ECC6C-ADCC-44EA-A95F-DBB3E474E479}" type="datetimeFigureOut">
              <a:rPr lang="pl-PL" smtClean="0"/>
              <a:t>24.03.2020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6E6100E-E559-4F34-A208-C73163E2C9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09DE2FB-969D-4D06-9BC4-8DEF6C7210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CA16C-94ED-469E-BE83-08E99915CA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4130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clipse.org/downloads/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s://www.jetbrains.com/idea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hyperlink" Target="https://netbeans.apache.org/download/index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42565C-E3CC-4EF0-8093-88FCC788A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8027347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7538D76-54EE-41D9-86C7-4F48DA81E0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9620" y="1471351"/>
            <a:ext cx="7108911" cy="4016621"/>
          </a:xfrm>
        </p:spPr>
        <p:txBody>
          <a:bodyPr anchor="ctr">
            <a:normAutofit/>
          </a:bodyPr>
          <a:lstStyle/>
          <a:p>
            <a:pPr algn="l"/>
            <a:r>
              <a:rPr lang="pl-PL" sz="6600"/>
              <a:t>Języki i Techniki Programowania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6301802-6C78-4220-8A89-45589390B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3178" y="1845264"/>
            <a:ext cx="3000907" cy="3268794"/>
          </a:xfrm>
        </p:spPr>
        <p:txBody>
          <a:bodyPr anchor="ctr">
            <a:normAutofit/>
          </a:bodyPr>
          <a:lstStyle/>
          <a:p>
            <a:pPr algn="l"/>
            <a:r>
              <a:rPr lang="pl-PL" sz="2200" dirty="0"/>
              <a:t>Laboratorium nr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74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5EF91F6-9590-46AD-A322-1648C7CF5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 fontScale="90000"/>
          </a:bodyPr>
          <a:lstStyle/>
          <a:p>
            <a:r>
              <a:rPr lang="pl-PL" sz="4000" dirty="0"/>
              <a:t>IDE - Środowisko deweloperskie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28168DC-3EB6-4EAF-8ACB-BB4DE0EDD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912459" cy="3979585"/>
          </a:xfrm>
        </p:spPr>
        <p:txBody>
          <a:bodyPr anchor="ctr">
            <a:normAutofit/>
          </a:bodyPr>
          <a:lstStyle/>
          <a:p>
            <a:r>
              <a:rPr lang="pl-PL" sz="1400" dirty="0" err="1"/>
              <a:t>Intellij</a:t>
            </a:r>
            <a:r>
              <a:rPr lang="pl-PL" sz="1400" dirty="0"/>
              <a:t> IDEA </a:t>
            </a:r>
            <a:r>
              <a:rPr lang="pl-PL" sz="1400" dirty="0">
                <a:hlinkClick r:id="rId2"/>
              </a:rPr>
              <a:t>https://www.jetbrains.com/idea/</a:t>
            </a:r>
            <a:r>
              <a:rPr lang="pl-PL" sz="1400" dirty="0"/>
              <a:t> - (</a:t>
            </a:r>
            <a:r>
              <a:rPr lang="pl-PL" sz="1400" b="1" dirty="0"/>
              <a:t>polecane</a:t>
            </a:r>
            <a:r>
              <a:rPr lang="pl-PL" sz="1400" dirty="0"/>
              <a:t>, najbardziej popularne, darmowe dla studentów)</a:t>
            </a:r>
          </a:p>
          <a:p>
            <a:r>
              <a:rPr lang="pl-PL" sz="1400" dirty="0" err="1"/>
              <a:t>Eclipse</a:t>
            </a:r>
            <a:r>
              <a:rPr lang="pl-PL" sz="1400" dirty="0"/>
              <a:t> </a:t>
            </a:r>
            <a:r>
              <a:rPr lang="pl-PL" sz="1400" dirty="0">
                <a:hlinkClick r:id="rId3"/>
              </a:rPr>
              <a:t>https://www.eclipse.org/downloads/</a:t>
            </a:r>
            <a:r>
              <a:rPr lang="pl-PL" sz="1400" dirty="0"/>
              <a:t> </a:t>
            </a:r>
          </a:p>
          <a:p>
            <a:r>
              <a:rPr lang="pl-PL" sz="1400" dirty="0" err="1"/>
              <a:t>NetBeans</a:t>
            </a:r>
            <a:r>
              <a:rPr lang="pl-PL" sz="1400" dirty="0"/>
              <a:t> </a:t>
            </a:r>
            <a:r>
              <a:rPr lang="pl-PL" sz="1400" dirty="0">
                <a:hlinkClick r:id="rId4"/>
              </a:rPr>
              <a:t>https://netbeans.apache.org/download/index.html</a:t>
            </a:r>
            <a:br>
              <a:rPr lang="pl-PL" sz="1300" dirty="0"/>
            </a:br>
            <a:endParaRPr lang="pl-PL" sz="130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Znalezione obrazy dla zapytania eclipse ide logo">
            <a:extLst>
              <a:ext uri="{FF2B5EF4-FFF2-40B4-BE49-F238E27FC236}">
                <a16:creationId xmlns:a16="http://schemas.microsoft.com/office/drawing/2014/main" id="{409CEB8D-9ECB-4DBB-B6FC-3A81D1E97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5068255"/>
            <a:ext cx="3359086" cy="789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Znalezione obrazy dla zapytania netbeans logo">
            <a:extLst>
              <a:ext uri="{FF2B5EF4-FFF2-40B4-BE49-F238E27FC236}">
                <a16:creationId xmlns:a16="http://schemas.microsoft.com/office/drawing/2014/main" id="{B7A7572E-D3B7-490A-91FA-7DE038797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5306" y="3383759"/>
            <a:ext cx="2857500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Znalezione obrazy dla zapytania intellij idea logo">
            <a:extLst>
              <a:ext uri="{FF2B5EF4-FFF2-40B4-BE49-F238E27FC236}">
                <a16:creationId xmlns:a16="http://schemas.microsoft.com/office/drawing/2014/main" id="{3AE85790-CE88-4FC9-A163-8D809359D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3911" y="932495"/>
            <a:ext cx="41910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718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8D39654-22E7-44B9-AA6A-24332CA0D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pl-PL" sz="4100" dirty="0">
                <a:solidFill>
                  <a:srgbClr val="FFFFFF"/>
                </a:solidFill>
              </a:rPr>
              <a:t>Debugger</a:t>
            </a:r>
          </a:p>
        </p:txBody>
      </p:sp>
      <p:sp>
        <p:nvSpPr>
          <p:cNvPr id="16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ACF5B5E-F3FD-403D-8871-A1B1562FA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6390" y="499065"/>
            <a:ext cx="6906491" cy="1212289"/>
          </a:xfrm>
        </p:spPr>
        <p:txBody>
          <a:bodyPr anchor="ctr">
            <a:normAutofit fontScale="40000" lnSpcReduction="20000"/>
          </a:bodyPr>
          <a:lstStyle/>
          <a:p>
            <a:r>
              <a:rPr lang="pl-PL" sz="2400" b="1" dirty="0"/>
              <a:t>Debugger</a:t>
            </a:r>
            <a:r>
              <a:rPr lang="pl-PL" sz="2400" dirty="0"/>
              <a:t> (zwany również </a:t>
            </a:r>
            <a:r>
              <a:rPr lang="pl-PL" sz="2400" dirty="0" err="1"/>
              <a:t>odpluskwiaczem</a:t>
            </a:r>
            <a:r>
              <a:rPr lang="pl-PL" sz="2400" dirty="0"/>
              <a:t>) - narzędzie wbudowane w IDE umożliwiające śledzenie stosu i sterty (składu) w wybranych liniach kodu, poprzez zatrzymywanie działania programu w danej linii.</a:t>
            </a:r>
          </a:p>
          <a:p>
            <a:r>
              <a:rPr lang="pl-PL" sz="2400" dirty="0"/>
              <a:t>Program działający w trybie </a:t>
            </a:r>
            <a:r>
              <a:rPr lang="pl-PL" sz="2400" dirty="0" err="1"/>
              <a:t>debuggowania</a:t>
            </a:r>
            <a:r>
              <a:rPr lang="pl-PL" sz="2400" dirty="0"/>
              <a:t> będzie wykonywał kolejne linijki kodu do momentu, w którym nie trafi na „</a:t>
            </a:r>
            <a:r>
              <a:rPr lang="pl-PL" sz="2400" b="1" dirty="0"/>
              <a:t>breakpoint</a:t>
            </a:r>
            <a:r>
              <a:rPr lang="pl-PL" sz="2400" dirty="0"/>
              <a:t>”, czyli linię kodu zaznaczoną przez programistę. Po zatrzymaniu się programu w wybranej linii, IDE wyświetli aktualny stos zawierający zmienne aplikacji. Użytkownik może zwolnić breakpoint, po czym program będzie wykonywany do napotkania kolejnego </a:t>
            </a:r>
            <a:r>
              <a:rPr lang="pl-PL" sz="2400" dirty="0" err="1"/>
              <a:t>breakpoint’a</a:t>
            </a:r>
            <a:r>
              <a:rPr lang="pl-PL" sz="2400" dirty="0"/>
              <a:t>. </a:t>
            </a:r>
          </a:p>
          <a:p>
            <a:r>
              <a:rPr lang="pl-PL" sz="2400" dirty="0"/>
              <a:t>W środowisku </a:t>
            </a:r>
            <a:r>
              <a:rPr lang="pl-PL" sz="2400" b="1" dirty="0" err="1"/>
              <a:t>Intellij</a:t>
            </a:r>
            <a:r>
              <a:rPr lang="pl-PL" sz="2400" b="1" dirty="0"/>
              <a:t> IDEA</a:t>
            </a:r>
            <a:r>
              <a:rPr lang="pl-PL" sz="2400" dirty="0"/>
              <a:t> aby wybrać linijkę kodu, w których program ma się zatrzymać (breakpoint) należy kliknąć po prawej stronie od numeru linii.  Linia zapali się na czerwono oraz pojawi się czerwony okrąg.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BFA1F625-31B2-407C-B6E2-5A97C835F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417" y="4189029"/>
            <a:ext cx="2714625" cy="1457325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29EA37DA-F1FB-40A3-8B59-05B6A1ABF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7724" y="1711354"/>
            <a:ext cx="3629025" cy="1733550"/>
          </a:xfrm>
          <a:prstGeom prst="rect">
            <a:avLst/>
          </a:prstGeom>
        </p:spPr>
      </p:pic>
      <p:sp>
        <p:nvSpPr>
          <p:cNvPr id="13" name="Symbol zastępczy zawartości 2">
            <a:extLst>
              <a:ext uri="{FF2B5EF4-FFF2-40B4-BE49-F238E27FC236}">
                <a16:creationId xmlns:a16="http://schemas.microsoft.com/office/drawing/2014/main" id="{102D59AD-E18B-4E03-B1B9-2D62AA8678D7}"/>
              </a:ext>
            </a:extLst>
          </p:cNvPr>
          <p:cNvSpPr txBox="1">
            <a:spLocks/>
          </p:cNvSpPr>
          <p:nvPr/>
        </p:nvSpPr>
        <p:spPr>
          <a:xfrm>
            <a:off x="4598675" y="3481287"/>
            <a:ext cx="6906491" cy="1212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1000" dirty="0"/>
              <a:t>Aby uruchomić program w trybie </a:t>
            </a:r>
            <a:r>
              <a:rPr lang="pl-PL" sz="1000" dirty="0" err="1"/>
              <a:t>debuggowania</a:t>
            </a:r>
            <a:r>
              <a:rPr lang="pl-PL" sz="1000" dirty="0"/>
              <a:t> należy wybrać ikonkę „robaka” obok przycisku RUN. </a:t>
            </a:r>
          </a:p>
        </p:txBody>
      </p:sp>
    </p:spTree>
    <p:extLst>
      <p:ext uri="{BB962C8B-B14F-4D97-AF65-F5344CB8AC3E}">
        <p14:creationId xmlns:p14="http://schemas.microsoft.com/office/powerpoint/2010/main" val="379867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" name="Rectangle 134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5929797-8F4A-48C4-B463-BA89C1A2A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pl-PL" sz="4800" dirty="0"/>
              <a:t>Debugger cd.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ymbol zastępczy zawartości 4">
            <a:extLst>
              <a:ext uri="{FF2B5EF4-FFF2-40B4-BE49-F238E27FC236}">
                <a16:creationId xmlns:a16="http://schemas.microsoft.com/office/drawing/2014/main" id="{CCC8D400-C330-471A-B120-1ADD8DE3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814" y="2312881"/>
            <a:ext cx="10515600" cy="312874"/>
          </a:xfrm>
        </p:spPr>
        <p:txBody>
          <a:bodyPr>
            <a:normAutofit/>
          </a:bodyPr>
          <a:lstStyle/>
          <a:p>
            <a:r>
              <a:rPr lang="pl-PL" sz="1000" dirty="0"/>
              <a:t>Po uruchomieniu </a:t>
            </a:r>
            <a:r>
              <a:rPr lang="pl-PL" sz="1000" dirty="0" err="1"/>
              <a:t>debuggera</a:t>
            </a:r>
            <a:r>
              <a:rPr lang="pl-PL" sz="1000" dirty="0"/>
              <a:t>, aplikacja będzie działa do momentu napotkania pierwszego breakpoint (linia ta zostanie zaznaczona jak na poniższym obrazku)</a:t>
            </a:r>
          </a:p>
          <a:p>
            <a:endParaRPr lang="pl-PL" sz="1000" dirty="0"/>
          </a:p>
          <a:p>
            <a:endParaRPr lang="pl-PL" sz="1000" dirty="0"/>
          </a:p>
          <a:p>
            <a:endParaRPr lang="pl-PL" sz="1000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E06D529F-52D1-45AF-97B3-050E0A831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53" y="2580957"/>
            <a:ext cx="4314825" cy="847725"/>
          </a:xfrm>
          <a:prstGeom prst="rect">
            <a:avLst/>
          </a:prstGeom>
        </p:spPr>
      </p:pic>
      <p:sp>
        <p:nvSpPr>
          <p:cNvPr id="13" name="Symbol zastępczy zawartości 4">
            <a:extLst>
              <a:ext uri="{FF2B5EF4-FFF2-40B4-BE49-F238E27FC236}">
                <a16:creationId xmlns:a16="http://schemas.microsoft.com/office/drawing/2014/main" id="{88A84811-DE14-4D8E-9269-93BC3FDCC3D0}"/>
              </a:ext>
            </a:extLst>
          </p:cNvPr>
          <p:cNvSpPr txBox="1">
            <a:spLocks/>
          </p:cNvSpPr>
          <p:nvPr/>
        </p:nvSpPr>
        <p:spPr>
          <a:xfrm>
            <a:off x="230653" y="3540321"/>
            <a:ext cx="10515600" cy="3128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1000" dirty="0"/>
              <a:t>W dolnej części ekranu powinien pojawić się aktualny stan stosu gdzie po prawej stronie w kolumnie </a:t>
            </a:r>
            <a:r>
              <a:rPr lang="pl-PL" sz="1000" b="1" dirty="0" err="1"/>
              <a:t>Variables</a:t>
            </a:r>
            <a:r>
              <a:rPr lang="pl-PL" sz="1000" b="1" dirty="0"/>
              <a:t> </a:t>
            </a:r>
            <a:r>
              <a:rPr lang="pl-PL" sz="1000" dirty="0"/>
              <a:t>wypisane są zmienne znajdujące się w pamięci </a:t>
            </a:r>
            <a:r>
              <a:rPr lang="pl-PL" sz="1000" b="1" dirty="0"/>
              <a:t>PRZED</a:t>
            </a:r>
            <a:r>
              <a:rPr lang="pl-PL" sz="1000" dirty="0"/>
              <a:t> wykonaniem wybranej linii. Wiersze po lewej stronie pozwala nawigować po wątkach programu i zmiennych dostępnych z wnętrza wątków. 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69482348-0D3B-4899-9A97-0C5F1F252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51" y="3926540"/>
            <a:ext cx="6105525" cy="1190625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8FC9E04D-F195-4ED4-8C41-90818E259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564" y="5413637"/>
            <a:ext cx="295275" cy="419100"/>
          </a:xfrm>
          <a:prstGeom prst="rect">
            <a:avLst/>
          </a:prstGeom>
        </p:spPr>
      </p:pic>
      <p:sp>
        <p:nvSpPr>
          <p:cNvPr id="18" name="Symbol zastępczy zawartości 4">
            <a:extLst>
              <a:ext uri="{FF2B5EF4-FFF2-40B4-BE49-F238E27FC236}">
                <a16:creationId xmlns:a16="http://schemas.microsoft.com/office/drawing/2014/main" id="{F49691A1-97FE-4856-9946-761595857B78}"/>
              </a:ext>
            </a:extLst>
          </p:cNvPr>
          <p:cNvSpPr txBox="1">
            <a:spLocks/>
          </p:cNvSpPr>
          <p:nvPr/>
        </p:nvSpPr>
        <p:spPr>
          <a:xfrm>
            <a:off x="142877" y="5117165"/>
            <a:ext cx="10515600" cy="312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1000" dirty="0"/>
              <a:t>Aby wznowić działanie programu należy wybrać przycisk poniżej przedstawiony</a:t>
            </a:r>
          </a:p>
        </p:txBody>
      </p:sp>
    </p:spTree>
    <p:extLst>
      <p:ext uri="{BB962C8B-B14F-4D97-AF65-F5344CB8AC3E}">
        <p14:creationId xmlns:p14="http://schemas.microsoft.com/office/powerpoint/2010/main" val="959015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" name="Rectangle 134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5929797-8F4A-48C4-B463-BA89C1A2A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pl-PL" sz="4800" dirty="0"/>
              <a:t>Debugger – stan stosu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ymbol zastępczy zawartości 4">
            <a:extLst>
              <a:ext uri="{FF2B5EF4-FFF2-40B4-BE49-F238E27FC236}">
                <a16:creationId xmlns:a16="http://schemas.microsoft.com/office/drawing/2014/main" id="{CCC8D400-C330-471A-B120-1ADD8DE3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814" y="2312881"/>
            <a:ext cx="10515600" cy="541008"/>
          </a:xfrm>
        </p:spPr>
        <p:txBody>
          <a:bodyPr>
            <a:normAutofit/>
          </a:bodyPr>
          <a:lstStyle/>
          <a:p>
            <a:r>
              <a:rPr lang="pl-PL" sz="1000" dirty="0"/>
              <a:t>Na stosie odkładane są typy proste, w przypadku obiektów na stosie odkładana jest referencja – adres do obiektu.</a:t>
            </a:r>
          </a:p>
          <a:p>
            <a:r>
              <a:rPr lang="pl-PL" sz="1000" dirty="0"/>
              <a:t>Podczas debugowania po prawej stronie mamy stan stosu dla wskazanej metody.</a:t>
            </a:r>
          </a:p>
        </p:txBody>
      </p:sp>
      <p:sp>
        <p:nvSpPr>
          <p:cNvPr id="13" name="Symbol zastępczy zawartości 4">
            <a:extLst>
              <a:ext uri="{FF2B5EF4-FFF2-40B4-BE49-F238E27FC236}">
                <a16:creationId xmlns:a16="http://schemas.microsoft.com/office/drawing/2014/main" id="{88A84811-DE14-4D8E-9269-93BC3FDCC3D0}"/>
              </a:ext>
            </a:extLst>
          </p:cNvPr>
          <p:cNvSpPr txBox="1">
            <a:spLocks/>
          </p:cNvSpPr>
          <p:nvPr/>
        </p:nvSpPr>
        <p:spPr>
          <a:xfrm>
            <a:off x="4209289" y="3217766"/>
            <a:ext cx="2215896" cy="2341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1000" dirty="0"/>
              <a:t>Stos w linii 7</a:t>
            </a:r>
          </a:p>
          <a:p>
            <a:endParaRPr lang="pl-PL" sz="1000" dirty="0"/>
          </a:p>
          <a:p>
            <a:endParaRPr lang="pl-PL" sz="1000" dirty="0"/>
          </a:p>
          <a:p>
            <a:endParaRPr lang="pl-PL" sz="1000" dirty="0"/>
          </a:p>
          <a:p>
            <a:r>
              <a:rPr lang="pl-PL" sz="1000" dirty="0"/>
              <a:t>Stos w linii 11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83417EE6-FEFC-4A54-8DD5-FB83D9CF9970}"/>
              </a:ext>
            </a:extLst>
          </p:cNvPr>
          <p:cNvSpPr/>
          <p:nvPr/>
        </p:nvSpPr>
        <p:spPr>
          <a:xfrm>
            <a:off x="7324783" y="3245966"/>
            <a:ext cx="28379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dirty="0"/>
              <a:t>[(</a:t>
            </a:r>
            <a:r>
              <a:rPr lang="pl-PL" dirty="0" err="1"/>
              <a:t>args,adres</a:t>
            </a:r>
            <a:r>
              <a:rPr lang="pl-PL" dirty="0"/>
              <a:t> </a:t>
            </a:r>
            <a:r>
              <a:rPr lang="pl-PL" dirty="0" err="1"/>
              <a:t>args</a:t>
            </a:r>
            <a:r>
              <a:rPr lang="pl-PL" dirty="0"/>
              <a:t>), (a,5)]</a:t>
            </a:r>
            <a:r>
              <a:rPr lang="pl-PL" baseline="-25000" dirty="0" err="1"/>
              <a:t>main</a:t>
            </a:r>
            <a:r>
              <a:rPr lang="pl-PL" dirty="0"/>
              <a:t> </a:t>
            </a:r>
          </a:p>
        </p:txBody>
      </p:sp>
      <p:sp>
        <p:nvSpPr>
          <p:cNvPr id="19" name="Prostokąt 18">
            <a:extLst>
              <a:ext uri="{FF2B5EF4-FFF2-40B4-BE49-F238E27FC236}">
                <a16:creationId xmlns:a16="http://schemas.microsoft.com/office/drawing/2014/main" id="{C6F66A7C-7FD6-4874-9BA3-D5318DB6AC83}"/>
              </a:ext>
            </a:extLst>
          </p:cNvPr>
          <p:cNvSpPr/>
          <p:nvPr/>
        </p:nvSpPr>
        <p:spPr>
          <a:xfrm>
            <a:off x="6903931" y="4152408"/>
            <a:ext cx="44363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dirty="0"/>
              <a:t>[(</a:t>
            </a:r>
            <a:r>
              <a:rPr lang="pl-PL" dirty="0" err="1"/>
              <a:t>args,adres</a:t>
            </a:r>
            <a:r>
              <a:rPr lang="pl-PL" dirty="0"/>
              <a:t> </a:t>
            </a:r>
            <a:r>
              <a:rPr lang="pl-PL" dirty="0" err="1"/>
              <a:t>args</a:t>
            </a:r>
            <a:r>
              <a:rPr lang="pl-PL" dirty="0"/>
              <a:t>), (a,5),(b,9),(</a:t>
            </a:r>
            <a:r>
              <a:rPr lang="pl-PL" dirty="0" err="1"/>
              <a:t>f,true</a:t>
            </a:r>
            <a:r>
              <a:rPr lang="pl-PL" dirty="0"/>
              <a:t>),(c,2)]</a:t>
            </a:r>
            <a:r>
              <a:rPr lang="pl-PL" baseline="-25000" dirty="0" err="1"/>
              <a:t>main</a:t>
            </a:r>
            <a:r>
              <a:rPr lang="pl-PL" dirty="0"/>
              <a:t> </a:t>
            </a:r>
          </a:p>
        </p:txBody>
      </p:sp>
      <p:pic>
        <p:nvPicPr>
          <p:cNvPr id="15" name="Obraz 14">
            <a:extLst>
              <a:ext uri="{FF2B5EF4-FFF2-40B4-BE49-F238E27FC236}">
                <a16:creationId xmlns:a16="http://schemas.microsoft.com/office/drawing/2014/main" id="{1EA1E4F3-7499-4016-9CE9-2CF2081CF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174" y="3249932"/>
            <a:ext cx="1343810" cy="323736"/>
          </a:xfrm>
          <a:prstGeom prst="rect">
            <a:avLst/>
          </a:prstGeom>
        </p:spPr>
      </p:pic>
      <p:pic>
        <p:nvPicPr>
          <p:cNvPr id="16" name="Obraz 15">
            <a:extLst>
              <a:ext uri="{FF2B5EF4-FFF2-40B4-BE49-F238E27FC236}">
                <a16:creationId xmlns:a16="http://schemas.microsoft.com/office/drawing/2014/main" id="{48DA899D-07B4-42FD-8AC0-D38870735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288" y="3875394"/>
            <a:ext cx="1306439" cy="773318"/>
          </a:xfrm>
          <a:prstGeom prst="rect">
            <a:avLst/>
          </a:prstGeom>
        </p:spPr>
      </p:pic>
      <p:pic>
        <p:nvPicPr>
          <p:cNvPr id="22" name="Obraz 21">
            <a:extLst>
              <a:ext uri="{FF2B5EF4-FFF2-40B4-BE49-F238E27FC236}">
                <a16:creationId xmlns:a16="http://schemas.microsoft.com/office/drawing/2014/main" id="{994F9F66-AD88-442F-8D0F-BCE7E9EFA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519" y="3189980"/>
            <a:ext cx="3871912" cy="1774954"/>
          </a:xfrm>
          <a:prstGeom prst="rect">
            <a:avLst/>
          </a:prstGeom>
        </p:spPr>
      </p:pic>
      <p:sp>
        <p:nvSpPr>
          <p:cNvPr id="27" name="Symbol zastępczy zawartości 4">
            <a:extLst>
              <a:ext uri="{FF2B5EF4-FFF2-40B4-BE49-F238E27FC236}">
                <a16:creationId xmlns:a16="http://schemas.microsoft.com/office/drawing/2014/main" id="{33122A33-6B8D-4201-8262-16E9D77D4B0E}"/>
              </a:ext>
            </a:extLst>
          </p:cNvPr>
          <p:cNvSpPr txBox="1">
            <a:spLocks/>
          </p:cNvSpPr>
          <p:nvPr/>
        </p:nvSpPr>
        <p:spPr>
          <a:xfrm>
            <a:off x="344184" y="5321213"/>
            <a:ext cx="10515600" cy="3693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1000" dirty="0"/>
              <a:t>Zmienne, które są edytowane przenoszone są na wierzchołek stosu.</a:t>
            </a:r>
          </a:p>
        </p:txBody>
      </p:sp>
    </p:spTree>
    <p:extLst>
      <p:ext uri="{BB962C8B-B14F-4D97-AF65-F5344CB8AC3E}">
        <p14:creationId xmlns:p14="http://schemas.microsoft.com/office/powerpoint/2010/main" val="1785019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5EF91F6-9590-46AD-A322-1648C7CF5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pl-PL" sz="4000" dirty="0"/>
              <a:t>Testowanie w </a:t>
            </a:r>
            <a:r>
              <a:rPr lang="pl-PL" sz="4000" dirty="0" err="1"/>
              <a:t>JUnit</a:t>
            </a:r>
            <a:endParaRPr lang="pl-PL" sz="4000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28168DC-3EB6-4EAF-8ACB-BB4DE0EDD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376" y="2224322"/>
            <a:ext cx="4912459" cy="2784113"/>
          </a:xfrm>
        </p:spPr>
        <p:txBody>
          <a:bodyPr anchor="ctr">
            <a:noAutofit/>
          </a:bodyPr>
          <a:lstStyle/>
          <a:p>
            <a:r>
              <a:rPr lang="pl-PL" sz="1000" dirty="0"/>
              <a:t>Na potrzeby przeprowadzania testów jednostkowych w Języku Java, przygotowano narzędzia umożliwiające szybkie i sprawne pisanie testów jednostkowych nazwane </a:t>
            </a:r>
            <a:r>
              <a:rPr lang="pl-PL" sz="1000" dirty="0" err="1"/>
              <a:t>Junit</a:t>
            </a:r>
            <a:r>
              <a:rPr lang="pl-PL" sz="1000" dirty="0"/>
              <a:t>. Jest to biblioteka, która przy wykorzystaniu </a:t>
            </a:r>
            <a:r>
              <a:rPr lang="pl-PL" sz="1000" b="1" dirty="0" err="1"/>
              <a:t>anotacji</a:t>
            </a:r>
            <a:r>
              <a:rPr lang="pl-PL" sz="1000" b="1" dirty="0"/>
              <a:t> </a:t>
            </a:r>
            <a:r>
              <a:rPr lang="pl-PL" sz="1000" dirty="0"/>
              <a:t>umożliwia definiowanie testów oraz przygotowanie obiektów do ich wykonania.</a:t>
            </a:r>
          </a:p>
          <a:p>
            <a:r>
              <a:rPr lang="pl-PL" sz="1000" b="1" dirty="0" err="1"/>
              <a:t>Anotacja</a:t>
            </a:r>
            <a:r>
              <a:rPr lang="pl-PL" sz="1000" b="1" dirty="0"/>
              <a:t> </a:t>
            </a:r>
            <a:r>
              <a:rPr lang="pl-PL" sz="1000" dirty="0"/>
              <a:t>– to część gramatyki języka, reprezentującą konkretną logikę, którą w czasie budowania projektu, wykonuje kompilator . </a:t>
            </a:r>
            <a:r>
              <a:rPr lang="pl-PL" sz="1000" dirty="0" err="1"/>
              <a:t>Anotacje</a:t>
            </a:r>
            <a:r>
              <a:rPr lang="pl-PL" sz="1000" dirty="0"/>
              <a:t> w Javie wstawia się w Javie zazwyczaj przed deklaracją klas, metod i atrybutów.</a:t>
            </a:r>
            <a:r>
              <a:rPr lang="pl-PL" sz="1000" b="1" dirty="0"/>
              <a:t> </a:t>
            </a:r>
            <a:r>
              <a:rPr lang="pl-PL" sz="1000" dirty="0"/>
              <a:t>W przykładzie widocznym po prawej stronie wykorzystywana jest </a:t>
            </a:r>
            <a:r>
              <a:rPr lang="pl-PL" sz="1000" dirty="0" err="1"/>
              <a:t>anotacja</a:t>
            </a:r>
            <a:r>
              <a:rPr lang="pl-PL" sz="1000" dirty="0"/>
              <a:t> </a:t>
            </a:r>
            <a:r>
              <a:rPr lang="pl-PL" sz="1000" i="1" dirty="0"/>
              <a:t>@</a:t>
            </a:r>
            <a:r>
              <a:rPr lang="pl-PL" sz="1000" i="1" dirty="0" err="1"/>
              <a:t>Before</a:t>
            </a:r>
            <a:r>
              <a:rPr lang="pl-PL" sz="1000" dirty="0"/>
              <a:t> oraz </a:t>
            </a:r>
            <a:r>
              <a:rPr lang="pl-PL" sz="1000" i="1" dirty="0"/>
              <a:t>@Test</a:t>
            </a:r>
            <a:r>
              <a:rPr lang="pl-PL" sz="1000" dirty="0"/>
              <a:t>. Metoda poprzedzona </a:t>
            </a:r>
            <a:r>
              <a:rPr lang="pl-PL" sz="1000" dirty="0" err="1"/>
              <a:t>anotacją</a:t>
            </a:r>
            <a:r>
              <a:rPr lang="pl-PL" sz="1000" dirty="0"/>
              <a:t> </a:t>
            </a:r>
            <a:r>
              <a:rPr lang="pl-PL" sz="1000" i="1" dirty="0"/>
              <a:t>@</a:t>
            </a:r>
            <a:r>
              <a:rPr lang="pl-PL" sz="1000" i="1" dirty="0" err="1"/>
              <a:t>Before</a:t>
            </a:r>
            <a:r>
              <a:rPr lang="pl-PL" sz="1000" dirty="0"/>
              <a:t> w klasie, w której się znajduje zostanie wykonana przed wywołaniem testów. </a:t>
            </a:r>
            <a:r>
              <a:rPr lang="pl-PL" sz="1000" dirty="0" err="1"/>
              <a:t>Anotacja</a:t>
            </a:r>
            <a:r>
              <a:rPr lang="pl-PL" sz="1000" dirty="0"/>
              <a:t> </a:t>
            </a:r>
            <a:r>
              <a:rPr lang="pl-PL" sz="1000" i="1" dirty="0"/>
              <a:t>@Test </a:t>
            </a:r>
            <a:r>
              <a:rPr lang="pl-PL" sz="1000" dirty="0"/>
              <a:t>poprzedzająca metodę, reprezentuje pojedynczy test jednostkowy.</a:t>
            </a:r>
          </a:p>
          <a:p>
            <a:r>
              <a:rPr lang="pl-PL" sz="1000" dirty="0"/>
              <a:t>Wynik testu będzie pozytywny jeśli dla wyniku statycznej metody </a:t>
            </a:r>
            <a:r>
              <a:rPr lang="pl-PL" sz="1000" i="1" dirty="0" err="1"/>
              <a:t>assertEquals</a:t>
            </a:r>
            <a:r>
              <a:rPr lang="pl-PL" sz="1000" i="1" dirty="0"/>
              <a:t> wartości obu parametrów będą równe. W klasie </a:t>
            </a:r>
            <a:r>
              <a:rPr lang="pl-PL" sz="1000" i="1" dirty="0" err="1"/>
              <a:t>Assert</a:t>
            </a:r>
            <a:r>
              <a:rPr lang="pl-PL" sz="1000" i="1" dirty="0"/>
              <a:t> istnieją również inne metody umożliwiające przeprowadzanie testów, np. </a:t>
            </a:r>
            <a:r>
              <a:rPr lang="pl-PL" sz="1000" i="1" dirty="0" err="1"/>
              <a:t>assertTrue</a:t>
            </a:r>
            <a:r>
              <a:rPr lang="pl-PL" sz="1000" i="1" dirty="0"/>
              <a:t>, </a:t>
            </a:r>
            <a:r>
              <a:rPr lang="pl-PL" sz="1000" i="1" dirty="0" err="1"/>
              <a:t>assertNotNull</a:t>
            </a:r>
            <a:r>
              <a:rPr lang="pl-PL" sz="1000" i="1" dirty="0"/>
              <a:t> itp..</a:t>
            </a:r>
          </a:p>
          <a:p>
            <a:r>
              <a:rPr lang="pl-PL" sz="1000" dirty="0" err="1"/>
              <a:t>Intellij</a:t>
            </a:r>
            <a:r>
              <a:rPr lang="pl-PL" sz="1000" dirty="0"/>
              <a:t> IDEA umożliwia wywoływanie pojedynczych testów lub wszystkich testów w klasie poprzez wciśnięcie odpowiednio zielonego przycisku przy numerze linii przy deklaracjach metod i przy deklaracji klasy.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DD21BC6D-B1C2-41C8-9300-9D1072A08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277" y="856180"/>
            <a:ext cx="4162425" cy="4752975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2011344D-9715-480D-8140-ED7EA6AC4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05" y="5142188"/>
            <a:ext cx="4788240" cy="117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637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06A90D-C655-46FC-8824-FF944014F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ZADANIA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8815C9C-6387-4F06-AE4B-D455AFD8A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93744"/>
          </a:xfrm>
        </p:spPr>
        <p:txBody>
          <a:bodyPr>
            <a:normAutofit fontScale="62500" lnSpcReduction="20000"/>
          </a:bodyPr>
          <a:lstStyle/>
          <a:p>
            <a:r>
              <a:rPr lang="pl-PL" dirty="0"/>
              <a:t>Wypisać stany stosu jako ciąg list par odpowiadający metodom na stosie i zmiennym zadeklarowanym i modyfikowanym w czasie ich wykonania. Lista par odpowiada metodzie na stosie, jest zapisana w nawiasie kwadratowym, a każda para składa się z nazwy zmiennej oraz jej wartości. Np. […, (x, 7), (y, </a:t>
            </a:r>
            <a:r>
              <a:rPr lang="pl-PL" dirty="0" err="1"/>
              <a:t>true</a:t>
            </a:r>
            <a:r>
              <a:rPr lang="pl-PL" dirty="0"/>
              <a:t>)]</a:t>
            </a:r>
            <a:r>
              <a:rPr lang="pl-PL" baseline="-25000" dirty="0" err="1"/>
              <a:t>main</a:t>
            </a:r>
            <a:r>
              <a:rPr lang="pl-PL" dirty="0"/>
              <a:t> to stan, w którym podczas wykonania metody </a:t>
            </a:r>
            <a:r>
              <a:rPr lang="pl-PL" dirty="0" err="1"/>
              <a:t>main</a:t>
            </a:r>
            <a:r>
              <a:rPr lang="pl-PL" dirty="0"/>
              <a:t> wartości zmiennych x i y są odpowiednio równe 7 i </a:t>
            </a:r>
            <a:r>
              <a:rPr lang="pl-PL" dirty="0" err="1"/>
              <a:t>true</a:t>
            </a:r>
            <a:r>
              <a:rPr lang="pl-PL" dirty="0"/>
              <a:t>. Przeanalizuj następującą klasę i podaj stany stosu po wykonaniu linii 3, 4, 5, 6, 7, 8 i 10. </a:t>
            </a:r>
          </a:p>
          <a:p>
            <a:pPr marL="0" indent="0">
              <a:buNone/>
            </a:pPr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3E6A002D-DBAC-4BF2-ABDE-9756F101A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118" y="3081381"/>
            <a:ext cx="3562350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786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55F946A-B957-4B84-A4B2-7E20D22A9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ZADANIA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AEF1A9D-7D0A-498C-A0B3-BEDDD4D2E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310" y="1253331"/>
            <a:ext cx="10515600" cy="4351338"/>
          </a:xfrm>
        </p:spPr>
        <p:txBody>
          <a:bodyPr>
            <a:normAutofit/>
          </a:bodyPr>
          <a:lstStyle/>
          <a:p>
            <a:pPr lvl="0"/>
            <a:r>
              <a:rPr lang="pl-PL" dirty="0"/>
              <a:t>Przeanalizuj poniższą klasę:</a:t>
            </a:r>
          </a:p>
          <a:p>
            <a:pPr marL="0" indent="0">
              <a:buNone/>
            </a:pPr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AED4818-4630-4665-801A-AED875596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10" y="1776020"/>
            <a:ext cx="4867275" cy="2819400"/>
          </a:xfrm>
          <a:prstGeom prst="rect">
            <a:avLst/>
          </a:prstGeom>
        </p:spPr>
      </p:pic>
      <p:sp>
        <p:nvSpPr>
          <p:cNvPr id="6" name="Prostokąt 5">
            <a:extLst>
              <a:ext uri="{FF2B5EF4-FFF2-40B4-BE49-F238E27FC236}">
                <a16:creationId xmlns:a16="http://schemas.microsoft.com/office/drawing/2014/main" id="{A7AD03BD-6E72-4046-804E-9A2D4E84691F}"/>
              </a:ext>
            </a:extLst>
          </p:cNvPr>
          <p:cNvSpPr/>
          <p:nvPr/>
        </p:nvSpPr>
        <p:spPr>
          <a:xfrm>
            <a:off x="474416" y="4680752"/>
            <a:ext cx="1096327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310"/>
              </a:spcAft>
            </a:pPr>
            <a:r>
              <a:rPr lang="pl-PL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1. Co zostanie napisane na konsoli przy wykonaniu </a:t>
            </a:r>
            <a:r>
              <a:rPr lang="pl-PL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main</a:t>
            </a:r>
            <a:r>
              <a:rPr lang="pl-PL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?</a:t>
            </a:r>
            <a:endParaRPr lang="pl-PL" sz="1600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>
              <a:spcAft>
                <a:spcPts val="310"/>
              </a:spcAft>
            </a:pPr>
            <a:r>
              <a:rPr lang="pl-PL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2. Podaj stany stosu </a:t>
            </a:r>
            <a:r>
              <a:rPr lang="pl-PL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wywołań</a:t>
            </a:r>
            <a:r>
              <a:rPr lang="pl-PL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i składu, gdy zostaną osiągnięte miejsca (1), (2), oraz (a) i (b).</a:t>
            </a:r>
            <a:endParaRPr lang="pl-PL" sz="1600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>
              <a:spcAft>
                <a:spcPts val="310"/>
              </a:spcAft>
            </a:pPr>
            <a:r>
              <a:rPr lang="pl-PL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Użyj </a:t>
            </a:r>
            <a:r>
              <a:rPr lang="pl-PL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odpluskwiacza</a:t>
            </a:r>
            <a:r>
              <a:rPr lang="pl-PL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(</a:t>
            </a:r>
            <a:r>
              <a:rPr lang="pl-PL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debuggera</a:t>
            </a:r>
            <a:r>
              <a:rPr lang="pl-PL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) do sprawdzenia otrzymanych wyników. </a:t>
            </a:r>
            <a:endParaRPr lang="pl-PL" sz="1600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>
              <a:spcAft>
                <a:spcPts val="310"/>
              </a:spcAft>
            </a:pPr>
            <a:r>
              <a:rPr lang="pl-PL" u="sng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Uwaga: proszę pamiętać o parametrze </a:t>
            </a:r>
            <a:r>
              <a:rPr lang="pl-PL" u="sng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args</a:t>
            </a:r>
            <a:r>
              <a:rPr lang="pl-PL" u="sng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metody </a:t>
            </a:r>
            <a:r>
              <a:rPr lang="pl-PL" u="sng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main</a:t>
            </a:r>
            <a:r>
              <a:rPr lang="pl-PL" u="sng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.</a:t>
            </a:r>
            <a:endParaRPr lang="pl-PL" sz="1600" u="sng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>
              <a:spcAft>
                <a:spcPts val="310"/>
              </a:spcAft>
            </a:pPr>
            <a:r>
              <a:rPr lang="pl-PL" u="sng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Stos trzeba odpowiednio rozrysować, żeby było widać piętra odpowiadające metodom. </a:t>
            </a:r>
            <a:endParaRPr lang="pl-PL" sz="1600" u="sng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184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6A475B0-47EC-4AF4-850E-DF99D3070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ZADANIA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F034745-8C62-430A-9D90-CCAF26FB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/>
              <a:t>Zaimplementuj klasy </a:t>
            </a:r>
            <a:r>
              <a:rPr lang="pl-PL" i="1" dirty="0"/>
              <a:t>Point</a:t>
            </a:r>
            <a:r>
              <a:rPr lang="pl-PL" dirty="0"/>
              <a:t> i </a:t>
            </a:r>
            <a:r>
              <a:rPr lang="pl-PL" i="1" dirty="0"/>
              <a:t>Line</a:t>
            </a:r>
            <a:r>
              <a:rPr lang="pl-PL" dirty="0"/>
              <a:t> odpowiadające odpowiednio punktom i liniom w przestrzeni dwuwymiarowej z odpowiednimi konstruktorami. Klasy te mają zawierać metodę </a:t>
            </a:r>
            <a:r>
              <a:rPr lang="pl-PL" i="1" dirty="0" err="1"/>
              <a:t>move</a:t>
            </a:r>
            <a:r>
              <a:rPr lang="pl-PL" dirty="0"/>
              <a:t> pozwalającą na przesuwanie punktów i linii o wektor oraz metodę </a:t>
            </a:r>
            <a:r>
              <a:rPr lang="pl-PL" i="1" dirty="0" err="1"/>
              <a:t>flip</a:t>
            </a:r>
            <a:r>
              <a:rPr lang="pl-PL" dirty="0"/>
              <a:t> pozwalającą na przerzucanie symetryczne względem początku układu współrzędnych. Należy napisać testy metod i konstruktorów. Ile parametrów powinna mieć metoda </a:t>
            </a:r>
            <a:r>
              <a:rPr lang="pl-PL" i="1" dirty="0" err="1"/>
              <a:t>move</a:t>
            </a:r>
            <a:r>
              <a:rPr lang="pl-PL" dirty="0"/>
              <a:t>? </a:t>
            </a:r>
          </a:p>
          <a:p>
            <a:r>
              <a:rPr lang="pl-PL" i="1" dirty="0"/>
              <a:t>Wskazówka</a:t>
            </a:r>
            <a:r>
              <a:rPr lang="pl-PL" dirty="0"/>
              <a:t>: w celu testowania należy zaimplementować odpowiednio metodę </a:t>
            </a:r>
            <a:r>
              <a:rPr lang="pl-PL" i="1" dirty="0" err="1"/>
              <a:t>toString</a:t>
            </a:r>
            <a:r>
              <a:rPr lang="pl-PL" i="1" dirty="0"/>
              <a:t>()</a:t>
            </a:r>
            <a:r>
              <a:rPr lang="pl-PL" dirty="0"/>
              <a:t> zwracającą dla danego obiektu reprezentujący go string.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5708722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817</Words>
  <Application>Microsoft Office PowerPoint</Application>
  <PresentationFormat>Panoramiczny</PresentationFormat>
  <Paragraphs>44</Paragraphs>
  <Slides>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Motyw pakietu Office</vt:lpstr>
      <vt:lpstr>Języki i Techniki Programowania</vt:lpstr>
      <vt:lpstr>IDE - Środowisko deweloperskie</vt:lpstr>
      <vt:lpstr>Debugger</vt:lpstr>
      <vt:lpstr>Debugger cd.</vt:lpstr>
      <vt:lpstr>Debugger – stan stosu</vt:lpstr>
      <vt:lpstr>Testowanie w JUnit</vt:lpstr>
      <vt:lpstr>ZADANIA</vt:lpstr>
      <vt:lpstr>ZADANIA</vt:lpstr>
      <vt:lpstr>ZADANIA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Języki i Techniki Programowania</dc:title>
  <dc:creator>Kukiełka Marcin</dc:creator>
  <cp:lastModifiedBy>Tomasz Gutowski</cp:lastModifiedBy>
  <cp:revision>17</cp:revision>
  <dcterms:created xsi:type="dcterms:W3CDTF">2020-03-15T11:40:38Z</dcterms:created>
  <dcterms:modified xsi:type="dcterms:W3CDTF">2020-03-24T09:01:24Z</dcterms:modified>
</cp:coreProperties>
</file>